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90" r:id="rId5"/>
    <p:sldId id="295" r:id="rId6"/>
    <p:sldId id="296" r:id="rId7"/>
    <p:sldId id="305" r:id="rId8"/>
    <p:sldId id="306" r:id="rId9"/>
    <p:sldId id="307" r:id="rId10"/>
    <p:sldId id="308" r:id="rId11"/>
    <p:sldId id="312" r:id="rId12"/>
    <p:sldId id="326" r:id="rId13"/>
    <p:sldId id="322" r:id="rId14"/>
    <p:sldId id="327" r:id="rId15"/>
    <p:sldId id="302" r:id="rId16"/>
    <p:sldId id="294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5D00"/>
    <a:srgbClr val="FF6200"/>
    <a:srgbClr val="007ABF"/>
    <a:srgbClr val="00A2FF"/>
    <a:srgbClr val="FF6C00"/>
    <a:srgbClr val="6FFA82"/>
    <a:srgbClr val="FFD5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/>
    <p:restoredTop sz="85145"/>
  </p:normalViewPr>
  <p:slideViewPr>
    <p:cSldViewPr snapToGrid="0" snapToObjects="1">
      <p:cViewPr varScale="1">
        <p:scale>
          <a:sx n="47" d="100"/>
          <a:sy n="47" d="100"/>
        </p:scale>
        <p:origin x="1264" y="248"/>
      </p:cViewPr>
      <p:guideLst/>
    </p:cSldViewPr>
  </p:slideViewPr>
  <p:outlineViewPr>
    <p:cViewPr>
      <p:scale>
        <a:sx n="33" d="100"/>
        <a:sy n="33" d="100"/>
      </p:scale>
      <p:origin x="0" y="-4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20" name="Shape 12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项目符号 拷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57"/>
          <a:stretch>
            <a:fillRect/>
          </a:stretch>
        </p:blipFill>
        <p:spPr>
          <a:xfrm>
            <a:off x="49385" y="1901141"/>
            <a:ext cx="24334615" cy="11764059"/>
          </a:xfrm>
          <a:prstGeom prst="rect">
            <a:avLst/>
          </a:prstGeom>
        </p:spPr>
      </p:pic>
      <p:pic>
        <p:nvPicPr>
          <p:cNvPr id="3" name="图片 2" descr="文本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68770" y="548640"/>
            <a:ext cx="4483100" cy="12954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QCon +-2.jpg" descr="QCon +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1pPr>
            <a:lvl2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2pPr>
            <a:lvl3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3pPr>
            <a:lvl4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4pPr>
            <a:lvl5pPr marL="0" indent="0" algn="ctr">
              <a:spcBef>
                <a:spcPts val="0"/>
              </a:spcBef>
              <a:buSzTx/>
              <a:buNone/>
              <a:defRPr sz="5400">
                <a:solidFill>
                  <a:srgbClr val="FFFFFF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1667"/>
            <a:ext cx="24386964" cy="13714333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350" y="1667"/>
            <a:ext cx="24386964" cy="137143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填写课程标题"/>
          <p:cNvSpPr txBox="1">
            <a:spLocks noGrp="1"/>
          </p:cNvSpPr>
          <p:nvPr>
            <p:ph type="ctrTitle"/>
          </p:nvPr>
        </p:nvSpPr>
        <p:spPr>
          <a:xfrm>
            <a:off x="1778000" y="4236849"/>
            <a:ext cx="20828000" cy="262115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600"/>
            </a:lvl1pPr>
          </a:lstStyle>
          <a:p>
            <a:r>
              <a:rPr lang="zh-CN" altLang="en-US" sz="9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CI/CD</a:t>
            </a:r>
            <a:r>
              <a:rPr lang="en-US" altLang="zh-CN" sz="9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 &amp; </a:t>
            </a:r>
            <a:r>
              <a:rPr lang="zh-CN" altLang="en-US" sz="9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</a:rPr>
              <a:t>DevOps</a:t>
            </a:r>
            <a:endParaRPr lang="zh-CN" altLang="en-US" sz="9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</a:endParaRPr>
          </a:p>
        </p:txBody>
      </p:sp>
      <p:sp>
        <p:nvSpPr>
          <p:cNvPr id="125" name="副标题 / 讲师"/>
          <p:cNvSpPr txBox="1">
            <a:spLocks noGrp="1"/>
          </p:cNvSpPr>
          <p:nvPr>
            <p:ph type="subTitle" sz="quarter" idx="1"/>
          </p:nvPr>
        </p:nvSpPr>
        <p:spPr>
          <a:xfrm>
            <a:off x="1778000" y="7376230"/>
            <a:ext cx="20828000" cy="15875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Google</a:t>
            </a:r>
            <a:r>
              <a:rPr lang="zh-CN" altLang="en-US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软件工程师</a:t>
            </a:r>
            <a:r>
              <a:rPr lang="en-US" altLang="zh-CN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</a:t>
            </a:r>
            <a:r>
              <a:rPr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张实秋</a:t>
            </a:r>
            <a:endParaRPr dirty="0"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5525597" y="3890034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CI / CD 概念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4125868" y="3806502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基础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556596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972" y="7359542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高级主题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7262238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9094299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Jenkins 实战</a:t>
            </a:r>
            <a:endParaRPr lang="zh-CN" altLang="en-US" sz="40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895851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在此输入一级标题"/>
          <p:cNvSpPr txBox="1"/>
          <p:nvPr/>
        </p:nvSpPr>
        <p:spPr>
          <a:xfrm>
            <a:off x="1594066" y="1137780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目录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/>
          <p:nvPr/>
        </p:nvSpPr>
        <p:spPr>
          <a:xfrm>
            <a:off x="5477972" y="5624788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基础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4125868" y="5565961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477972" y="7359542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高级主题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4125868" y="7262238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3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477972" y="9129224"/>
            <a:ext cx="11669764" cy="796925"/>
          </a:xfrm>
          <a:prstGeom prst="rect">
            <a:avLst/>
          </a:prstGeom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Jenkins 实战</a:t>
            </a:r>
            <a:endParaRPr lang="zh-CN" altLang="en-US" sz="4000" b="0" dirty="0">
              <a:solidFill>
                <a:schemeClr val="tx1">
                  <a:lumMod val="9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125868" y="8958515"/>
            <a:ext cx="951680" cy="91458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125868" y="3890034"/>
            <a:ext cx="951680" cy="914580"/>
          </a:xfrm>
          <a:prstGeom prst="round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1</a:t>
            </a:r>
            <a:endParaRPr lang="zh-CN" altLang="en-US" sz="4000" dirty="0">
              <a:solidFill>
                <a:schemeClr val="bg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477972" y="3963622"/>
            <a:ext cx="11669764" cy="79692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algn="l"/>
            <a:r>
              <a:rPr lang="zh-CN" altLang="en-US" sz="4000" b="0" dirty="0">
                <a:solidFill>
                  <a:srgbClr val="FF9300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CI / CD 概念</a:t>
            </a:r>
            <a:endParaRPr lang="zh-CN" altLang="en-US" sz="4000" b="0" dirty="0">
              <a:solidFill>
                <a:srgbClr val="FF9300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sp>
        <p:nvSpPr>
          <p:cNvPr id="14" name="在此输入一级标题"/>
          <p:cNvSpPr txBox="1"/>
          <p:nvPr/>
        </p:nvSpPr>
        <p:spPr>
          <a:xfrm>
            <a:off x="1584764" y="1179212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目录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CI / CD 概念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DevOps 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工程团队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软件生命周期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Integration 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Delivery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DevOps</a:t>
            </a:r>
            <a:endParaRPr lang="en-US" altLang="zh-CN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8033365" cy="313626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DevOps是软件行业工程理念和一系列工具的结合，核心目的是 </a:t>
            </a:r>
            <a:r>
              <a:rPr lang="zh-CN" altLang="en-US" sz="480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提高企业交付软件的速度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DevOps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提高软件进化的速度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提供更好的软件可靠性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使用自动化工具，提高可扩展性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改善团队之间的协作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038"/>
            <a:ext cx="1320609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DevOps的两个重要的核心</a:t>
            </a:r>
            <a:endParaRPr lang="zh-CN" altLang="en-US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3876020" cy="313626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持续集成/持续交付或部署（CI/CD）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基础设施即代码（IaC）</a:t>
            </a: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616712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什么是CI/CD？</a:t>
            </a:r>
            <a:endParaRPr lang="zh-CN" altLang="en-US" sz="6600" dirty="0"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7383760" cy="90455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软件开发生命周期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Software Development LifeCycle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指软件的产生直到成熟的全部过程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从设计、实现编码和部署，到维护和更新，直到最后退役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持续迭代的过程中，需要引入自动化流水线来频繁交付/部署应用系统，也就是所谓的CI/CD。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200000"/>
              </a:lnSpc>
              <a:buFont typeface="Wingdings" panose="05000000000000000000" pitchFamily="2" charset="2"/>
            </a:pPr>
            <a:endParaRPr lang="zh-CN" altLang="en-US" sz="4800" b="0" dirty="0">
              <a:solidFill>
                <a:schemeClr val="tx1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640588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什么是CI/CD？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39640" y="3905250"/>
            <a:ext cx="17816830" cy="313626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lstStyle/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CI/CD是DevOps团队构建、打包、测试和部署应用程序的一种一致的、自动化的方式。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1048321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en-US" altLang="zh-CN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CI: Continuous Integration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84048" y="10863263"/>
            <a:ext cx="14684375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ln>
                  <a:noFill/>
                </a:ln>
                <a:solidFill>
                  <a:schemeClr val="bg1"/>
                </a:solidFill>
              </a:rPr>
              <a:t>source: https://www.wallarm.com/what/what-is-ci-cd-concept-how-can-it-work</a:t>
            </a:r>
            <a:endParaRPr lang="en-US" altLang="zh-CN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9055" y="3422015"/>
            <a:ext cx="11449685" cy="687006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285875" y="3422015"/>
            <a:ext cx="8230235" cy="572135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p>
            <a:pPr algn="l">
              <a:lnSpc>
                <a:spcPct val="200000"/>
              </a:lnSpc>
              <a:buFont typeface="Wingdings" panose="05000000000000000000" pitchFamily="2" charset="2"/>
            </a:pP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持续集成是指定期构建、测试一个项目新开发的代码更新，并将其集成到类似Git这样的共享存储库中。</a:t>
            </a:r>
            <a:endParaRPr lang="en-US" altLang="zh-CN" sz="36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200000"/>
              </a:lnSpc>
              <a:buFont typeface="Wingdings" panose="05000000000000000000" pitchFamily="2" charset="2"/>
            </a:pP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然后，使用自动化工具对整合后的代码进行验证和测试。</a:t>
            </a:r>
            <a:endParaRPr lang="en-US" altLang="zh-CN" sz="36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15534005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C</a:t>
            </a:r>
            <a:r>
              <a:rPr 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D: Continuous Delivery / </a:t>
            </a:r>
            <a:r>
              <a:rPr lang="en-US" sz="6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  <a:sym typeface="+mn-ea"/>
              </a:rPr>
              <a:t>Deployment</a:t>
            </a:r>
            <a:endParaRPr lang="en-US" sz="6600" dirty="0">
              <a:latin typeface="Alibaba PuHuiTi R" pitchFamily="18" charset="-122"/>
              <a:ea typeface="Alibaba PuHuiTi R" pitchFamily="18" charset="-122"/>
              <a:cs typeface="Alibaba PuHuiTi R" pitchFamily="18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315" y="3275330"/>
            <a:ext cx="11941810" cy="716534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89433" y="10739438"/>
            <a:ext cx="14684375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ln>
                  <a:noFill/>
                </a:ln>
                <a:solidFill>
                  <a:schemeClr val="bg1"/>
                </a:solidFill>
              </a:rPr>
              <a:t>source: https://www.wallarm.com/what/what-is-ci-cd-concept-how-can-it-work</a:t>
            </a:r>
            <a:endParaRPr lang="en-US" altLang="zh-CN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85875" y="3275330"/>
            <a:ext cx="7922895" cy="4613275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p>
            <a:pPr algn="l">
              <a:lnSpc>
                <a:spcPct val="200000"/>
              </a:lnSpc>
              <a:buFont typeface="Wingdings" panose="05000000000000000000" pitchFamily="2" charset="2"/>
            </a:pP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持续交付是将合并和验证的代码自动发布到存储库中</a:t>
            </a:r>
            <a:endParaRPr lang="en-US" altLang="zh-CN" sz="36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algn="l">
              <a:lnSpc>
                <a:spcPct val="200000"/>
              </a:lnSpc>
              <a:buFont typeface="Wingdings" panose="05000000000000000000" pitchFamily="2" charset="2"/>
            </a:pPr>
            <a:r>
              <a:rPr lang="zh-CN" altLang="en-US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持续部署</a:t>
            </a:r>
            <a:r>
              <a:rPr lang="en-US" altLang="zh-CN" sz="36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将准备好的版本交付到生产环境中。</a:t>
            </a:r>
            <a:endParaRPr lang="en-US" altLang="zh-CN" sz="36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在此输入一级标题"/>
          <p:cNvSpPr txBox="1"/>
          <p:nvPr/>
        </p:nvSpPr>
        <p:spPr>
          <a:xfrm>
            <a:off x="1285875" y="1316355"/>
            <a:ext cx="6405880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什么是CI/CD？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85243" y="10221913"/>
            <a:ext cx="10555605" cy="5632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Overflow="overflow" horzOverflow="overflow" vert="horz" wrap="none" lIns="50800" tIns="50800" rIns="50800" bIns="50800" numCol="1" spcCol="38100" rtlCol="0" anchor="ctr" forceAA="0">
            <a:sp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>
                <a:ln>
                  <a:noFill/>
                </a:ln>
                <a:solidFill>
                  <a:schemeClr val="bg1"/>
                </a:solidFill>
              </a:rPr>
              <a:t>source: www.redhat.com/en/topics/devops/what-is-ci-cd</a:t>
            </a:r>
            <a:endParaRPr lang="en-US" altLang="zh-CN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2490" y="4205605"/>
            <a:ext cx="20099655" cy="530479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在此输入一级标题"/>
          <p:cNvSpPr txBox="1"/>
          <p:nvPr/>
        </p:nvSpPr>
        <p:spPr>
          <a:xfrm>
            <a:off x="1285953" y="1316046"/>
            <a:ext cx="5063604" cy="111696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l">
              <a:defRPr sz="6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 panose="02000503000000020004"/>
              </a:defRPr>
            </a:lvl1pPr>
          </a:lstStyle>
          <a:p>
            <a:r>
              <a:rPr lang="zh-CN" altLang="en-US" sz="6600" dirty="0"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微软雅黑"/>
              </a:rPr>
              <a:t>总结</a:t>
            </a:r>
            <a:endParaRPr lang="zh-CN" altLang="en-US" sz="6600" dirty="0">
              <a:solidFill>
                <a:schemeClr val="tx1"/>
              </a:solidFill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微软雅黑"/>
            </a:endParaRPr>
          </a:p>
        </p:txBody>
      </p:sp>
      <p:sp>
        <p:nvSpPr>
          <p:cNvPr id="2" name="矩形 5"/>
          <p:cNvSpPr/>
          <p:nvPr/>
        </p:nvSpPr>
        <p:spPr>
          <a:xfrm>
            <a:off x="4739640" y="3905161"/>
            <a:ext cx="10627513" cy="6090920"/>
          </a:xfrm>
          <a:prstGeom prst="rect">
            <a:avLst/>
          </a:prstGeom>
          <a:noFill/>
        </p:spPr>
        <p:txBody>
          <a:bodyPr wrap="square" lIns="0" tIns="91419" rIns="182837" bIns="91419">
            <a:spAutoFit/>
          </a:bodyPr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DevOps </a:t>
            </a: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概念</a:t>
            </a:r>
            <a:endParaRPr 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软件生命周期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Integration </a:t>
            </a:r>
            <a:endParaRPr lang="zh-CN" altLang="en-US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 marL="685800" indent="-685800" algn="l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Continuous Delivery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/ </a:t>
            </a:r>
            <a:r>
              <a:rPr lang="en-US" altLang="zh-CN" sz="4800" b="0" dirty="0">
                <a:solidFill>
                  <a:srgbClr val="FFFFFF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Deployment</a:t>
            </a:r>
            <a:endParaRPr lang="en-US" altLang="zh-CN" sz="4800" b="0" dirty="0">
              <a:solidFill>
                <a:srgbClr val="FFFFFF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732462" y="4883785"/>
            <a:ext cx="12919075" cy="39484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25000" b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Alibaba PuHuiTi M" pitchFamily="18" charset="-122"/>
                <a:ea typeface="Alibaba PuHuiTi M" pitchFamily="18" charset="-122"/>
                <a:cs typeface="Alibaba PuHuiTi M" pitchFamily="18" charset="-122"/>
                <a:sym typeface="Helvetica Neue" panose="02000503000000020004"/>
              </a:rPr>
              <a:t>THANKS</a:t>
            </a:r>
            <a:endParaRPr kumimoji="0" lang="zh-CN" altLang="en-US" sz="25000" b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Alibaba PuHuiTi M" pitchFamily="18" charset="-122"/>
              <a:ea typeface="Alibaba PuHuiTi M" pitchFamily="18" charset="-122"/>
              <a:cs typeface="Alibaba PuHuiTi M" pitchFamily="18" charset="-122"/>
              <a:sym typeface="Helvetica Neue" panose="02000503000000020004"/>
            </a:endParaRPr>
          </a:p>
        </p:txBody>
      </p:sp>
      <p:pic>
        <p:nvPicPr>
          <p:cNvPr id="5" name="图片 4" descr="文本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8548" y="657360"/>
            <a:ext cx="4483100" cy="12954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984</Words>
  <Application>WPS 演示</Application>
  <PresentationFormat>自定义</PresentationFormat>
  <Paragraphs>102</Paragraphs>
  <Slides>14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Helvetica Neue</vt:lpstr>
      <vt:lpstr>Helvetica Neue Medium</vt:lpstr>
      <vt:lpstr>Helvetica Neue Light</vt:lpstr>
      <vt:lpstr>Alibaba PuHuiTi M</vt:lpstr>
      <vt:lpstr>苹方-简</vt:lpstr>
      <vt:lpstr>Alibaba PuHuiTi R</vt:lpstr>
      <vt:lpstr>微软雅黑</vt:lpstr>
      <vt:lpstr>PingFang SC</vt:lpstr>
      <vt:lpstr>微软雅黑</vt:lpstr>
      <vt:lpstr>汉仪旗黑</vt:lpstr>
      <vt:lpstr>宋体</vt:lpstr>
      <vt:lpstr>Arial Unicode MS</vt:lpstr>
      <vt:lpstr>宋体-简</vt:lpstr>
      <vt:lpstr>White</vt:lpstr>
      <vt:lpstr>CI/CD &amp; DevOps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这里是标题～～</dc:title>
  <dc:creator/>
  <cp:lastModifiedBy>shiqiuzhang</cp:lastModifiedBy>
  <cp:revision>77</cp:revision>
  <dcterms:created xsi:type="dcterms:W3CDTF">2022-11-13T22:09:48Z</dcterms:created>
  <dcterms:modified xsi:type="dcterms:W3CDTF">2022-11-13T22:09:48Z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2052-4.7.0.7770</vt:lpwstr>
  </property>
</Properties>
</file>